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6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Category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59669"/>
              </a:solidFill>
              <a:effectLst/>
            </c:spPr>
          </c:dPt>
          <c:dPt>
            <c:idx val="1"/>
            <c:bubble3D val="0"/>
            <c:spPr>
              <a:solidFill>
                <a:srgbClr val="DC262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Genuine</c:v>
                </c:pt>
                <c:pt idx="1">
                  <c:v>Fraud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78</c:v>
                </c:pt>
                <c:pt idx="1">
                  <c:v>22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Fraud Count</c:v>
                </c:pt>
              </c:strCache>
            </c:strRef>
          </c:tx>
          <c:spPr>
            <a:solidFill>
              <a:srgbClr val="B91C1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Mumbai</c:v>
                  </c:pt>
                  <c:pt idx="1">
                    <c:v>Delhi</c:v>
                  </c:pt>
                  <c:pt idx="2">
                    <c:v>Pune</c:v>
                  </c:pt>
                  <c:pt idx="3">
                    <c:v>Bangalore</c:v>
                  </c:pt>
                  <c:pt idx="4">
                    <c:v>Chennai</c:v>
                  </c:pt>
                  <c:pt idx="5">
                    <c:v>Hyderabad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145</c:v>
                </c:pt>
                <c:pt idx="1">
                  <c:v>128</c:v>
                </c:pt>
                <c:pt idx="2">
                  <c:v>87</c:v>
                </c:pt>
                <c:pt idx="3">
                  <c:v>93</c:v>
                </c:pt>
                <c:pt idx="4">
                  <c:v>64</c:v>
                </c:pt>
                <c:pt idx="5">
                  <c:v>71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Risk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Pt>
            <c:idx val="1"/>
            <c:bubble3D val="0"/>
            <c:spPr>
              <a:solidFill>
                <a:srgbClr val="C2410C"/>
              </a:solidFill>
              <a:effectLst/>
            </c:spPr>
          </c:dPt>
          <c:dPt>
            <c:idx val="2"/>
            <c:bubble3D val="0"/>
            <c:spPr>
              <a:solidFill>
                <a:srgbClr val="D97706"/>
              </a:solidFill>
              <a:effectLst/>
            </c:spPr>
          </c:dPt>
          <c:dPt>
            <c:idx val="3"/>
            <c:bubble3D val="0"/>
            <c:spPr>
              <a:solidFill>
                <a:srgbClr val="1D4ED8"/>
              </a:solidFill>
              <a:effectLst/>
            </c:spPr>
          </c:dPt>
          <c:dPt>
            <c:idx val="4"/>
            <c:bubble3D val="0"/>
            <c:spPr>
              <a:solidFill>
                <a:srgbClr val="94A3B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USR_001</c:v>
                </c:pt>
                <c:pt idx="1">
                  <c:v>USR_045</c:v>
                </c:pt>
                <c:pt idx="2">
                  <c:v>USR_112</c:v>
                </c:pt>
                <c:pt idx="3">
                  <c:v>USR_088</c:v>
                </c:pt>
                <c:pt idx="4">
                  <c:v>Others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24</c:v>
                </c:pt>
                <c:pt idx="1">
                  <c:v>18</c:v>
                </c:pt>
                <c:pt idx="2">
                  <c:v>15</c:v>
                </c:pt>
                <c:pt idx="3">
                  <c:v>12</c:v>
                </c:pt>
                <c:pt idx="4">
                  <c:v>31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Fraud Events</c:v>
                </c:pt>
              </c:strCache>
            </c:strRef>
          </c:tx>
          <c:spPr>
            <a:solidFill>
              <a:srgbClr val="B91C1C"/>
            </a:solidFill>
            <a:ln w="25400" cap="flat">
              <a:solidFill>
                <a:srgbClr val="B91C1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B91C1C"/>
              </a:solidFill>
              <a:ln w="9525" cap="flat">
                <a:solidFill>
                  <a:srgbClr val="B91C1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Sheet1!$A$2:$A$25</c:f>
              <c:multiLvlStrCache>
                <c:ptCount val="24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</c:lvl>
              </c:multiLvlStrCache>
            </c:multiLvl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12</c:v>
                </c:pt>
                <c:pt idx="1">
                  <c:v>18</c:v>
                </c:pt>
                <c:pt idx="2">
                  <c:v>34</c:v>
                </c:pt>
                <c:pt idx="3">
                  <c:v>41</c:v>
                </c:pt>
                <c:pt idx="4">
                  <c:v>38</c:v>
                </c:pt>
                <c:pt idx="5">
                  <c:v>22</c:v>
                </c:pt>
                <c:pt idx="6">
                  <c:v>8</c:v>
                </c:pt>
                <c:pt idx="7">
                  <c:v>5</c:v>
                </c:pt>
                <c:pt idx="8">
                  <c:v>6</c:v>
                </c:pt>
                <c:pt idx="9">
                  <c:v>9</c:v>
                </c:pt>
                <c:pt idx="10">
                  <c:v>14</c:v>
                </c:pt>
                <c:pt idx="11">
                  <c:v>18</c:v>
                </c:pt>
                <c:pt idx="12">
                  <c:v>21</c:v>
                </c:pt>
                <c:pt idx="13">
                  <c:v>19</c:v>
                </c:pt>
                <c:pt idx="14">
                  <c:v>17</c:v>
                </c:pt>
                <c:pt idx="15">
                  <c:v>20</c:v>
                </c:pt>
                <c:pt idx="16">
                  <c:v>24</c:v>
                </c:pt>
                <c:pt idx="17">
                  <c:v>28</c:v>
                </c:pt>
                <c:pt idx="18">
                  <c:v>32</c:v>
                </c:pt>
                <c:pt idx="19">
                  <c:v>29</c:v>
                </c:pt>
                <c:pt idx="20">
                  <c:v>22</c:v>
                </c:pt>
                <c:pt idx="21">
                  <c:v>19</c:v>
                </c:pt>
                <c:pt idx="22">
                  <c:v>16</c:v>
                </c:pt>
                <c:pt idx="23">
                  <c:v>14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C2410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Online Transfer</c:v>
                  </c:pt>
                  <c:pt idx="1">
                    <c:v>ATM Withdrawal</c:v>
                  </c:pt>
                  <c:pt idx="2">
                    <c:v>POS Purchase</c:v>
                  </c:pt>
                  <c:pt idx="3">
                    <c:v>UPI</c:v>
                  </c:pt>
                  <c:pt idx="4">
                    <c:v>NEFT</c:v>
                  </c:pt>
                  <c:pt idx="5">
                    <c:v>RTGS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234</c:v>
                </c:pt>
                <c:pt idx="1">
                  <c:v>187</c:v>
                </c:pt>
                <c:pt idx="2">
                  <c:v>142</c:v>
                </c:pt>
                <c:pt idx="3">
                  <c:v>98</c:v>
                </c:pt>
                <c:pt idx="4">
                  <c:v>67</c:v>
                </c:pt>
                <c:pt idx="5">
                  <c:v>45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Transaction Volume</c:v>
                </c:pt>
              </c:strCache>
            </c:strRef>
          </c:tx>
          <c:spPr>
            <a:solidFill>
              <a:srgbClr val="1D4E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Low</c:v>
                  </c:pt>
                  <c:pt idx="1">
                    <c:v>Medium</c:v>
                  </c:pt>
                  <c:pt idx="2">
                    <c:v>High</c:v>
                  </c:pt>
                  <c:pt idx="3">
                    <c:v>Critical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1250</c:v>
                </c:pt>
                <c:pt idx="1">
                  <c:v>840</c:v>
                </c:pt>
                <c:pt idx="2">
                  <c:v>430</c:v>
                </c:pt>
                <c:pt idx="3">
                  <c:v>128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0"/>
            <a:ext cx="73152" cy="5143500"/>
          </a:xfrm>
          <a:prstGeom prst="rect">
            <a:avLst/>
          </a:prstGeom>
          <a:solidFill>
            <a:srgbClr val="C2410C">
              <a:alpha val="40000"/>
            </a:srgbClr>
          </a:solidFill>
          <a:ln w="12700">
            <a:solidFill>
              <a:srgbClr val="C2410C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731520"/>
            <a:ext cx="3657600" cy="3657600"/>
          </a:xfrm>
          <a:prstGeom prst="ellipse">
            <a:avLst/>
          </a:prstGeom>
          <a:solidFill>
            <a:srgbClr val="B91C1C">
              <a:alpha val="12000"/>
            </a:srgbClr>
          </a:solidFill>
          <a:ln w="12700">
            <a:solidFill>
              <a:srgbClr val="B91C1C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0" y="-182880"/>
            <a:ext cx="2286000" cy="2286000"/>
          </a:xfrm>
          <a:prstGeom prst="ellipse">
            <a:avLst/>
          </a:prstGeom>
          <a:solidFill>
            <a:srgbClr val="C2410C">
              <a:alpha val="18000"/>
            </a:srgbClr>
          </a:solidFill>
          <a:ln w="12700">
            <a:solidFill>
              <a:srgbClr val="C2410C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005840"/>
            <a:ext cx="2103120" cy="347472"/>
          </a:xfrm>
          <a:prstGeom prst="roundRect">
            <a:avLst>
              <a:gd name="adj" fmla="val 13158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058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FRAUD RULE ENGINE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508760"/>
            <a:ext cx="77724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640080" y="30175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&amp; Analytics System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40080" y="3639312"/>
            <a:ext cx="5029200" cy="0"/>
          </a:xfrm>
          <a:prstGeom prst="line">
            <a:avLst/>
          </a:prstGeom>
          <a:noFill/>
          <a:ln w="19050">
            <a:solidFill>
              <a:srgbClr val="B91C1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74904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rule-based fraud detection engine using transaction patterns, location signals, user behavior, and risk-level classification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0" y="47548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Power BI Analytics Report  |  2025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REPORT OVERVIEW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Fraud Rule Engine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1353312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single-page Power BI dashboard applying deterministic fraud detection rules across 11 visual components. Provides a 360° view of fraud patterns through geographic, temporal, behavioral, and risk-level lenses.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65760" y="20574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923"/>
                </a:solidFill>
              </a:rPr>
              <a:t>11 Visuals on Single Dashboard Page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2514600"/>
            <a:ext cx="1965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2514600"/>
            <a:ext cx="1965960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65176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923"/>
                </a:solidFill>
              </a:rPr>
              <a:t>Fraud vs Genuine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301752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B91C1C"/>
                </a:solidFill>
              </a:rPr>
              <a:t>Pie Chart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496312" y="2514600"/>
            <a:ext cx="1965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96312" y="2514600"/>
            <a:ext cx="1965960" cy="9144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87752" y="265176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923"/>
                </a:solidFill>
              </a:rPr>
              <a:t>Fraud by Location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587752" y="301752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2410C"/>
                </a:solidFill>
              </a:rPr>
              <a:t>Column Chart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72584" y="2514600"/>
            <a:ext cx="1965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72584" y="2514600"/>
            <a:ext cx="1965960" cy="91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64024" y="265176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923"/>
                </a:solidFill>
              </a:rPr>
              <a:t>Fraud by Type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64024" y="301752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D97706"/>
                </a:solidFill>
              </a:rPr>
              <a:t>Bar Chart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848856" y="2514600"/>
            <a:ext cx="1965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48856" y="2514600"/>
            <a:ext cx="196596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40296" y="265176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923"/>
                </a:solidFill>
              </a:rPr>
              <a:t>Fraud by Hour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940296" y="301752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D9488"/>
                </a:solidFill>
              </a:rPr>
              <a:t>Line Chart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20040" y="3703320"/>
            <a:ext cx="1965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3703320"/>
            <a:ext cx="1965960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384048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923"/>
                </a:solidFill>
              </a:rPr>
              <a:t>Top High Risk Users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11480" y="420624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B91C1C"/>
                </a:solidFill>
              </a:rPr>
              <a:t>Donut Chart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496312" y="3703320"/>
            <a:ext cx="1965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496312" y="3703320"/>
            <a:ext cx="1965960" cy="914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87752" y="384048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923"/>
                </a:solidFill>
              </a:rPr>
              <a:t>Risk Level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587752" y="420624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D4ED8"/>
                </a:solidFill>
              </a:rPr>
              <a:t>Combo Chart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672584" y="3703320"/>
            <a:ext cx="1965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72584" y="3703320"/>
            <a:ext cx="1965960" cy="914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64024" y="384048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923"/>
                </a:solidFill>
              </a:rPr>
              <a:t>KPI Card ×4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764024" y="420624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59669"/>
                </a:solidFill>
              </a:rPr>
              <a:t>Card Visuals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848856" y="3703320"/>
            <a:ext cx="1965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848856" y="3703320"/>
            <a:ext cx="1965960" cy="914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40296" y="384048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923"/>
                </a:solidFill>
              </a:rPr>
              <a:t>Date Filter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940296" y="420624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Slicer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</a:rPr>
              <a:t>KPI METRICS &amp; FRAUD OVERVIEW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1920240" cy="914400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04672"/>
            <a:ext cx="192024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144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💳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74320" y="129844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Total Transactions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423160" y="804672"/>
            <a:ext cx="1920240" cy="914400"/>
          </a:xfrm>
          <a:prstGeom prst="rect">
            <a:avLst/>
          </a:prstGeom>
          <a:solidFill>
            <a:srgbClr val="FEF2F2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23160" y="804672"/>
            <a:ext cx="1920240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23160" y="9144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🚨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423160" y="129844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91C1C"/>
                </a:solidFill>
              </a:rPr>
              <a:t>Fraud Transactions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0" y="804672"/>
            <a:ext cx="1920240" cy="914400"/>
          </a:xfrm>
          <a:prstGeom prst="rect">
            <a:avLst/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804672"/>
            <a:ext cx="1920240" cy="9144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9144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⚠️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72000" y="129844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10C"/>
                </a:solidFill>
              </a:rPr>
              <a:t>High Risk Users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720840" y="804672"/>
            <a:ext cx="1920240" cy="91440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20840" y="804672"/>
            <a:ext cx="1920240" cy="914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0840" y="9144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720840" y="129844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4ED8"/>
                </a:solidFill>
              </a:rPr>
              <a:t>Fraud Rate %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1828800"/>
            <a:ext cx="274320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11480" y="19202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923"/>
                </a:solidFill>
              </a:rPr>
              <a:t>Fraud vs Genuine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11480" y="221284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B91C1C"/>
                </a:solidFill>
              </a:rPr>
              <a:t>Pie Chart</a:t>
            </a:r>
            <a:endParaRPr lang="en-US" sz="90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320040" y="2423160"/>
          <a:ext cx="2651760" cy="239572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hape 22"/>
          <p:cNvSpPr/>
          <p:nvPr/>
        </p:nvSpPr>
        <p:spPr>
          <a:xfrm>
            <a:off x="3246120" y="1828800"/>
            <a:ext cx="292608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3383280" y="19202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923"/>
                </a:solidFill>
              </a:rPr>
              <a:t>Fraud Transactions by Location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3383280" y="2212848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C2410C"/>
                </a:solidFill>
              </a:rPr>
              <a:t>Column Chart</a:t>
            </a:r>
            <a:endParaRPr lang="en-US" sz="900" dirty="0"/>
          </a:p>
        </p:txBody>
      </p:sp>
      <p:graphicFrame>
        <p:nvGraphicFramePr>
          <p:cNvPr id="28" name="Chart 1" descr=""/>
          <p:cNvGraphicFramePr/>
          <p:nvPr/>
        </p:nvGraphicFramePr>
        <p:xfrm>
          <a:off x="3291840" y="2423160"/>
          <a:ext cx="2834640" cy="239572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9" name="Shape 25"/>
          <p:cNvSpPr/>
          <p:nvPr/>
        </p:nvSpPr>
        <p:spPr>
          <a:xfrm>
            <a:off x="6400800" y="1828800"/>
            <a:ext cx="246888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Text 26"/>
          <p:cNvSpPr/>
          <p:nvPr/>
        </p:nvSpPr>
        <p:spPr>
          <a:xfrm>
            <a:off x="6510528" y="1920240"/>
            <a:ext cx="22494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923"/>
                </a:solidFill>
              </a:rPr>
              <a:t>Top High Risk Users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6510528" y="2212848"/>
            <a:ext cx="22494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B91C1C"/>
                </a:solidFill>
              </a:rPr>
              <a:t>Donut Chart</a:t>
            </a:r>
            <a:endParaRPr lang="en-US" sz="900" dirty="0"/>
          </a:p>
        </p:txBody>
      </p:sp>
      <p:graphicFrame>
        <p:nvGraphicFramePr>
          <p:cNvPr id="32" name="Chart 2" descr=""/>
          <p:cNvGraphicFramePr/>
          <p:nvPr/>
        </p:nvGraphicFramePr>
        <p:xfrm>
          <a:off x="6446520" y="2423160"/>
          <a:ext cx="2377440" cy="239572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</a:rPr>
              <a:t>TEMPORAL &amp; BEHAVIORAL FRAUD PATTERNS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Time-based and transaction-type patterns reveal when and how fraud occurs — critical for rule calibration.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325880"/>
            <a:ext cx="52120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417320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923"/>
                </a:solidFill>
              </a:rPr>
              <a:t>Fraud Transactions by Hour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75564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Line Chart — Peak fraud hours drive time-based rule triggers (e.g., block high-value txns between 2AM–5AM)</a:t>
            </a:r>
            <a:endParaRPr lang="en-US" sz="95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320040" y="2103120"/>
          <a:ext cx="512064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5669280" y="1325880"/>
            <a:ext cx="32004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806440" y="141732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923"/>
                </a:solidFill>
              </a:rPr>
              <a:t>Fraud by Transaction Type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806440" y="175564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D97706"/>
                </a:solidFill>
              </a:rPr>
              <a:t>Clustered Bar Chart</a:t>
            </a:r>
            <a:endParaRPr lang="en-US" sz="900" dirty="0"/>
          </a:p>
        </p:txBody>
      </p:sp>
      <p:graphicFrame>
        <p:nvGraphicFramePr>
          <p:cNvPr id="13" name="Chart 1" descr=""/>
          <p:cNvGraphicFramePr/>
          <p:nvPr/>
        </p:nvGraphicFramePr>
        <p:xfrm>
          <a:off x="5715000" y="2011680"/>
          <a:ext cx="310896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</a:rPr>
              <a:t>RISK LEVEL ANALYSIS &amp; RULE ENGINE LOGIC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The combo chart combines transaction volume (columns) and fraud rate (line) by risk level, powering the rule engine's decision thresholds.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325880"/>
            <a:ext cx="530352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417320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923"/>
                </a:solidFill>
              </a:rPr>
              <a:t>Risk Level — Txn Volume &amp; Fraud Rate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755648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1D4ED8"/>
                </a:solidFill>
              </a:rPr>
              <a:t>Line + Stacked Column Combo Chart</a:t>
            </a:r>
            <a:endParaRPr lang="en-US" sz="9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320040" y="1993392"/>
          <a:ext cx="521208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5760720" y="1325880"/>
            <a:ext cx="31089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897880" y="141732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923"/>
                </a:solidFill>
              </a:rPr>
              <a:t>Rule Engine Thresholds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852160" y="1828800"/>
            <a:ext cx="2834640" cy="713232"/>
          </a:xfrm>
          <a:prstGeom prst="rect">
            <a:avLst/>
          </a:prstGeom>
          <a:solidFill>
            <a:srgbClr val="D1FAE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852160" y="1828800"/>
            <a:ext cx="64008" cy="71323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89320" y="188366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LOW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989320" y="2157984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Standard transaction patterns. Minimal intervention.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5852160" y="2633472"/>
            <a:ext cx="2834640" cy="713232"/>
          </a:xfrm>
          <a:prstGeom prst="rect">
            <a:avLst/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852160" y="2633472"/>
            <a:ext cx="64008" cy="7132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89320" y="268833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</a:rPr>
              <a:t>MEDIUM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989320" y="2962656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Unusual amount or location. Soft block + OTP.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5852160" y="3438144"/>
            <a:ext cx="2834640" cy="713232"/>
          </a:xfrm>
          <a:prstGeom prst="rect">
            <a:avLst/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852160" y="3438144"/>
            <a:ext cx="64008" cy="71323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989320" y="349300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2410C"/>
                </a:solidFill>
              </a:rPr>
              <a:t>HIGH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989320" y="376732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Velocity breach or new device. Hard block.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5852160" y="4242816"/>
            <a:ext cx="2834640" cy="713232"/>
          </a:xfrm>
          <a:prstGeom prst="rect">
            <a:avLst/>
          </a:prstGeom>
          <a:solidFill>
            <a:srgbClr val="FEF2F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852160" y="4242816"/>
            <a:ext cx="64008" cy="71323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989320" y="42976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91C1C"/>
                </a:solidFill>
              </a:rPr>
              <a:t>CRITICAL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5989320" y="457200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Multiple rule breaches. Account freeze + alert.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</a:rPr>
              <a:t>INTERACTIVE INVESTIGATION  |  DATE SLICER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80467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The date range slicer dynamically filters all 10 visuals in real-time, enabling analysts to investigate specific fraud windows.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35331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923"/>
                </a:solidFill>
              </a:rPr>
              <a:t>Investigation Workflow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1810512"/>
            <a:ext cx="40233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810512"/>
            <a:ext cx="73152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865376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1865376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923"/>
                </a:solidFill>
              </a:rPr>
              <a:t>Set Date Range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221992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Use the date slicer to focus on a suspicious time window (e.g., a specific night or weekend).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54880" y="1810512"/>
            <a:ext cx="40233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810512"/>
            <a:ext cx="73152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1865376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349240" y="1865376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923"/>
                </a:solidFill>
              </a:rPr>
              <a:t>Check Volume Split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2221992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Review Fraud vs Genuine pie chart to understand the proportion of fraud in the selected period.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" y="2889504"/>
            <a:ext cx="40233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889504"/>
            <a:ext cx="73152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94436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4400" y="294436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923"/>
                </a:solidFill>
              </a:rPr>
              <a:t>Identify Geography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3300984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Spot high-fraud locations using the column chart — indicates geographic targeting.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54880" y="2889504"/>
            <a:ext cx="40233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2889504"/>
            <a:ext cx="73152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294436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</a:rPr>
              <a:t>04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349240" y="294436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923"/>
                </a:solidFill>
              </a:rPr>
              <a:t>Analyze Peak Hours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37760" y="3300984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Use the hourly line chart to pinpoint when fraud peaks — informs time-based rule triggers.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0040" y="3968496"/>
            <a:ext cx="40233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" y="3968496"/>
            <a:ext cx="73152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40233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</a:rPr>
              <a:t>05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14400" y="40233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923"/>
                </a:solidFill>
              </a:rPr>
              <a:t>Identify Users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2920" y="4379976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Donut chart surfaces the top high-risk users for targeted account review or suspension.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54880" y="3968496"/>
            <a:ext cx="40233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54880" y="3968496"/>
            <a:ext cx="73152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37760" y="40233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</a:rPr>
              <a:t>06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349240" y="40233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923"/>
                </a:solidFill>
              </a:rPr>
              <a:t>Apply Rules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937760" y="4379976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Based on Risk Level combo chart, adjust rule thresholds for Low/Medium/High/Critical segments.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2926080"/>
            <a:ext cx="3657600" cy="3657600"/>
          </a:xfrm>
          <a:prstGeom prst="ellipse">
            <a:avLst/>
          </a:prstGeom>
          <a:solidFill>
            <a:srgbClr val="B91C1C">
              <a:alpha val="12000"/>
            </a:srgbClr>
          </a:solidFill>
          <a:ln w="12700">
            <a:solidFill>
              <a:srgbClr val="B91C1C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</a:rPr>
              <a:t>SUMMARY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Engine Capabilities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📊 Multi-Dimensional Detection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764792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Combines geographic, temporal, behavioral, and transaction-type signals into unified fraud scoring.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754880" y="141732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⚙️ Deterministic Rule Logic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0" y="1764792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Clear Low/Medium/High/Critical thresholds enable consistent, auditable fraud decisions.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258775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🕐 Hourly Fraud Timing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935224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Time-based rule triggers protect against off-hours fraud — when human oversight is minimal.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754880" y="258775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📍 Location Intelligence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2935224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City-level fraud mapping drives geographic rule overlays for high-risk regions.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3758184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👤 User Risk Profiling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105656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Top high-risk user identification enables proactive account monitoring and intervention.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754880" y="3758184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🎛️ Real-Time Filtering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0" y="4105656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Dynamic date slicer refreshes all 10 visuals instantly for time-window investigation.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Rule-Based Fraud Rule Engine</dc:title>
  <dc:subject>PptxGenJS Presentation</dc:subject>
  <dc:creator>PptxGenJS</dc:creator>
  <cp:lastModifiedBy>PptxGenJS</cp:lastModifiedBy>
  <cp:revision>1</cp:revision>
  <dcterms:created xsi:type="dcterms:W3CDTF">2026-05-30T15:05:22Z</dcterms:created>
  <dcterms:modified xsi:type="dcterms:W3CDTF">2026-05-30T15:05:22Z</dcterms:modified>
</cp:coreProperties>
</file>